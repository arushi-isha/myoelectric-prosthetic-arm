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3" r:id="rId9"/>
    <p:sldId id="270" r:id="rId10"/>
    <p:sldId id="261" r:id="rId11"/>
    <p:sldId id="272" r:id="rId12"/>
    <p:sldId id="262" r:id="rId13"/>
    <p:sldId id="271" r:id="rId14"/>
    <p:sldId id="273" r:id="rId15"/>
    <p:sldId id="274" r:id="rId16"/>
    <p:sldId id="275" r:id="rId17"/>
    <p:sldId id="268" r:id="rId18"/>
    <p:sldId id="260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F44461-E793-0D3F-77E3-638507B035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AF07D-EE2A-918D-2DB3-8EB1EE7556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103D9-9762-4FF7-A792-75FF5DA47FA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9B9FC-B179-DDA6-2927-A20120E858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2F88C-84D7-2C4F-BD86-F11B578289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D85A7-A48A-46A5-85C0-BBC60C175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68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ECA85-71F3-4AE0-A162-EE7E210CACA9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C603A-8A98-45F5-A979-AD31AA49B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50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DBA1-CA9A-3DF4-76E1-F72B2AE3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5" y="285135"/>
            <a:ext cx="9615948" cy="90600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3D-Printed Myoelectric Prosthetic HAND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2C87E60-B60A-0CA0-3D28-24C8D54E3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057" y="1256223"/>
            <a:ext cx="2165923" cy="217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46E55C8-BABF-1B58-2077-6664849FA5DE}"/>
              </a:ext>
            </a:extLst>
          </p:cNvPr>
          <p:cNvSpPr txBox="1">
            <a:spLocks/>
          </p:cNvSpPr>
          <p:nvPr/>
        </p:nvSpPr>
        <p:spPr>
          <a:xfrm>
            <a:off x="1869540" y="3494081"/>
            <a:ext cx="9291483" cy="67873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cap="all" dirty="0">
                <a:latin typeface="Arial" panose="020B0604020202020204" pitchFamily="34" charset="0"/>
                <a:cs typeface="Arial" panose="020B0604020202020204" pitchFamily="34" charset="0"/>
              </a:rPr>
              <a:t>Odisha University of  Technology and Research</a:t>
            </a:r>
          </a:p>
          <a:p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E4529-3213-4A37-A940-F0BB8BB6CDC9}"/>
              </a:ext>
            </a:extLst>
          </p:cNvPr>
          <p:cNvSpPr txBox="1"/>
          <p:nvPr/>
        </p:nvSpPr>
        <p:spPr>
          <a:xfrm>
            <a:off x="196643" y="4626620"/>
            <a:ext cx="54077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just"/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Arushi Mallick – 2211100375</a:t>
            </a: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Supervised by: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Dr Ananya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Dastidar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57DC0-AF3C-CD9C-B90A-A68DF296E5B3}"/>
              </a:ext>
            </a:extLst>
          </p:cNvPr>
          <p:cNvSpPr txBox="1"/>
          <p:nvPr/>
        </p:nvSpPr>
        <p:spPr>
          <a:xfrm>
            <a:off x="3539613" y="4030385"/>
            <a:ext cx="5112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DEPARTMENT OF ELECTRONIC SCIENCES</a:t>
            </a:r>
          </a:p>
        </p:txBody>
      </p:sp>
    </p:spTree>
    <p:extLst>
      <p:ext uri="{BB962C8B-B14F-4D97-AF65-F5344CB8AC3E}">
        <p14:creationId xmlns:p14="http://schemas.microsoft.com/office/powerpoint/2010/main" val="138152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4E04FC-4AD0-2F3E-6E89-277980AC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17" y="178111"/>
            <a:ext cx="4562954" cy="60847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D7CD8-9E1E-88B0-647E-A79BCCC87C42}"/>
              </a:ext>
            </a:extLst>
          </p:cNvPr>
          <p:cNvSpPr txBox="1"/>
          <p:nvPr/>
        </p:nvSpPr>
        <p:spPr>
          <a:xfrm>
            <a:off x="453710" y="1150909"/>
            <a:ext cx="10481187" cy="4129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Prosthetic limbs help amputees regain daily functionality and independence.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Conventional prosthetics are expensive and not easily customizable.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3D printing offers a low-cost and flexible alternative for creating prosthetic devices.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uses 3D printing, Arduino Uno, and a EMG muscle sensor to design a cost-effective myoelectric hand.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Demonstrates how bio-signals (EMG) can control mechanical movement in real time.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7A3A7-2702-81A9-1E3C-0D7D9A02B0AF}"/>
              </a:ext>
            </a:extLst>
          </p:cNvPr>
          <p:cNvSpPr txBox="1"/>
          <p:nvPr/>
        </p:nvSpPr>
        <p:spPr>
          <a:xfrm>
            <a:off x="11749548" y="6381135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1702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8DD4-2C83-7A84-33A6-2499D4E4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5" y="433750"/>
            <a:ext cx="4297483" cy="55930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CD051-2068-618A-3E29-4BA0FB86CF2D}"/>
              </a:ext>
            </a:extLst>
          </p:cNvPr>
          <p:cNvSpPr txBox="1"/>
          <p:nvPr/>
        </p:nvSpPr>
        <p:spPr>
          <a:xfrm>
            <a:off x="757084" y="1071716"/>
            <a:ext cx="9458632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Millions of amputees worldwide lack access to affordable prosthetic limbs.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Commercial myoelectric prosthetics cost between $10,000–$20,000 (~17 lakh INR), making them inaccessible for many.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3D printing enables rapid, low-cost fabrication and easy customization.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Integrating Arduino and muscle sensors provides a simple, open-source way to replicate basic prosthetic functions.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Aim: To design a cost-effective, customizable, and educational prosthetic prototype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0B657-9C2C-9027-6EDA-5616D523C093}"/>
              </a:ext>
            </a:extLst>
          </p:cNvPr>
          <p:cNvSpPr txBox="1"/>
          <p:nvPr/>
        </p:nvSpPr>
        <p:spPr>
          <a:xfrm>
            <a:off x="11552903" y="6361471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133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5138-6857-C276-7826-3A750098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27" y="286266"/>
            <a:ext cx="3864864" cy="755953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9671F-01BD-4248-2560-2B02A3DD4194}"/>
              </a:ext>
            </a:extLst>
          </p:cNvPr>
          <p:cNvSpPr txBox="1"/>
          <p:nvPr/>
        </p:nvSpPr>
        <p:spPr>
          <a:xfrm>
            <a:off x="408252" y="1161488"/>
            <a:ext cx="99502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 design and develop a 3D-printed prosthetic hand that mimics human hand movement.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 use EMG muscle sensors to detect muscle activity (EMG signals).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 interface the muscle sensor with an Arduino Uno for signal processing and control.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 control servo motors that drive the 3D-printed fingers based on muscle contractions.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 demonstrate a low-cost, customizable, and functional prosthetic prototype.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5240-5D91-87BA-F2C2-60489BA918D6}"/>
              </a:ext>
            </a:extLst>
          </p:cNvPr>
          <p:cNvSpPr txBox="1"/>
          <p:nvPr/>
        </p:nvSpPr>
        <p:spPr>
          <a:xfrm>
            <a:off x="11552903" y="6361471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C0FEA-4F8E-CB00-9CA6-F1C4916AB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54" y="3980726"/>
            <a:ext cx="7208652" cy="23111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9565C2-0331-E2AB-108D-483E340ED7B3}"/>
              </a:ext>
            </a:extLst>
          </p:cNvPr>
          <p:cNvSpPr txBox="1"/>
          <p:nvPr/>
        </p:nvSpPr>
        <p:spPr>
          <a:xfrm>
            <a:off x="2582284" y="6332081"/>
            <a:ext cx="7327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1 Basic block diagram of an EMG-controlled prosthetic hand system [3]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1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C0559-2B04-9ACF-78B1-16460118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26" y="315763"/>
            <a:ext cx="5113561" cy="69696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Components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939AF4-D1AC-4CDF-7D7A-879AE0719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822051"/>
              </p:ext>
            </p:extLst>
          </p:nvPr>
        </p:nvGraphicFramePr>
        <p:xfrm>
          <a:off x="1199535" y="1389370"/>
          <a:ext cx="8085393" cy="5021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62">
                  <a:extLst>
                    <a:ext uri="{9D8B030D-6E8A-4147-A177-3AD203B41FA5}">
                      <a16:colId xmlns:a16="http://schemas.microsoft.com/office/drawing/2014/main" val="2968914947"/>
                    </a:ext>
                  </a:extLst>
                </a:gridCol>
                <a:gridCol w="3057831">
                  <a:extLst>
                    <a:ext uri="{9D8B030D-6E8A-4147-A177-3AD203B41FA5}">
                      <a16:colId xmlns:a16="http://schemas.microsoft.com/office/drawing/2014/main" val="3840663280"/>
                    </a:ext>
                  </a:extLst>
                </a:gridCol>
                <a:gridCol w="2821859">
                  <a:extLst>
                    <a:ext uri="{9D8B030D-6E8A-4147-A177-3AD203B41FA5}">
                      <a16:colId xmlns:a16="http://schemas.microsoft.com/office/drawing/2014/main" val="1459075672"/>
                    </a:ext>
                  </a:extLst>
                </a:gridCol>
                <a:gridCol w="1242141">
                  <a:extLst>
                    <a:ext uri="{9D8B030D-6E8A-4147-A177-3AD203B41FA5}">
                      <a16:colId xmlns:a16="http://schemas.microsoft.com/office/drawing/2014/main" val="2622054277"/>
                    </a:ext>
                  </a:extLst>
                </a:gridCol>
              </a:tblGrid>
              <a:tr h="43943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51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EMG Muscles Sensor with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Muscle sensor V3.0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64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EMG Electrodes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EMG surface Ag/AgCl electrodes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01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Arduino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Rev3 ATmega328P 16MHz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03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Servo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MG996R (180) metal gear servo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6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3D Printed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 filament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97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Jumper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20cm M-F , F-F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29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Fishing wire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78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Screw and bolts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904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C3559B-D1B1-D6F5-5395-EF69F617C7EC}"/>
              </a:ext>
            </a:extLst>
          </p:cNvPr>
          <p:cNvSpPr txBox="1"/>
          <p:nvPr/>
        </p:nvSpPr>
        <p:spPr>
          <a:xfrm>
            <a:off x="11651225" y="6331974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8396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8FE2-CBE1-CFBA-A828-0DA7D84C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06" y="217440"/>
            <a:ext cx="4582619" cy="7264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EMG Sensor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44CE6-8DEE-F767-4245-5A35F600BD58}"/>
              </a:ext>
            </a:extLst>
          </p:cNvPr>
          <p:cNvSpPr txBox="1"/>
          <p:nvPr/>
        </p:nvSpPr>
        <p:spPr>
          <a:xfrm>
            <a:off x="363006" y="943896"/>
            <a:ext cx="10825317" cy="5514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EMG Sensor Used: Advancer Technologies EMG Muscle Sensor V3.0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Detects electrical activity (EMG signals) generated during muscle contraction.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Provides an analog output voltage proportional to muscle effort.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Compact and easy to interface with Arduino Uno.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Operates on 3.3V–5V, suitable for wearable and bio-signal applications.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three electrodes:</a:t>
            </a:r>
          </a:p>
          <a:p>
            <a:pPr marL="742950" lvl="1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placed on the target muscle (e.g., forearm).</a:t>
            </a:r>
          </a:p>
          <a:p>
            <a:pPr marL="742950" lvl="1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reference electrode placed on a bony or neutral area.</a:t>
            </a:r>
          </a:p>
        </p:txBody>
      </p:sp>
      <p:pic>
        <p:nvPicPr>
          <p:cNvPr id="2052" name="Picture 4" descr="Buy EMG Sensor/Muscle Sensor Module for Arduino Online – Robocraze">
            <a:extLst>
              <a:ext uri="{FF2B5EF4-FFF2-40B4-BE49-F238E27FC236}">
                <a16:creationId xmlns:a16="http://schemas.microsoft.com/office/drawing/2014/main" id="{4164372F-49B2-7D46-038E-C5627D0B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110372" y="659826"/>
            <a:ext cx="2329460" cy="232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AIAI Muscle Sensor KIT (EMG) Advancer Technologies EMG Muscle Sensor V3.0  with Cable and Electrodes">
            <a:extLst>
              <a:ext uri="{FF2B5EF4-FFF2-40B4-BE49-F238E27FC236}">
                <a16:creationId xmlns:a16="http://schemas.microsoft.com/office/drawing/2014/main" id="{D622101D-F242-A53D-CE3C-442F437F6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57" y="3116233"/>
            <a:ext cx="2329460" cy="232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6DA96E-399F-F5E8-B59F-80FE134F84CC}"/>
              </a:ext>
            </a:extLst>
          </p:cNvPr>
          <p:cNvSpPr txBox="1"/>
          <p:nvPr/>
        </p:nvSpPr>
        <p:spPr>
          <a:xfrm>
            <a:off x="11681510" y="6352154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7A31B-20CC-87A7-B2A8-5B4F7B16C52E}"/>
              </a:ext>
            </a:extLst>
          </p:cNvPr>
          <p:cNvSpPr txBox="1"/>
          <p:nvPr/>
        </p:nvSpPr>
        <p:spPr>
          <a:xfrm>
            <a:off x="8608935" y="5490262"/>
            <a:ext cx="3367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Fig. 2 EMG Muscle Sensor V3.0 Module with Electrodes and connecting cable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99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4D2E-85F9-8265-6DD9-44D67E80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11" y="266602"/>
            <a:ext cx="3835367" cy="68712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Arduino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86BB7-D327-A776-6736-D67C2560AB2F}"/>
              </a:ext>
            </a:extLst>
          </p:cNvPr>
          <p:cNvSpPr txBox="1"/>
          <p:nvPr/>
        </p:nvSpPr>
        <p:spPr>
          <a:xfrm>
            <a:off x="333511" y="943897"/>
            <a:ext cx="8485239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Overview: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Operating Voltage:</a:t>
            </a:r>
            <a:r>
              <a:rPr lang="en-US" altLang="en-US" dirty="0">
                <a:latin typeface="Arial" panose="020B0604020202020204" pitchFamily="34" charset="0"/>
              </a:rPr>
              <a:t> 5 V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Input Voltage: </a:t>
            </a:r>
            <a:r>
              <a:rPr lang="en-US" altLang="en-US" dirty="0">
                <a:latin typeface="Arial" panose="020B0604020202020204" pitchFamily="34" charset="0"/>
              </a:rPr>
              <a:t>7–12 V (via external adapter or battery)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Analog Input Pins:</a:t>
            </a:r>
            <a:r>
              <a:rPr lang="en-US" altLang="en-US" dirty="0">
                <a:latin typeface="Arial" panose="020B0604020202020204" pitchFamily="34" charset="0"/>
              </a:rPr>
              <a:t> 6 (A0–A5)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Digital I/O Pins:</a:t>
            </a:r>
            <a:r>
              <a:rPr lang="en-US" altLang="en-US" dirty="0">
                <a:latin typeface="Arial" panose="020B0604020202020204" pitchFamily="34" charset="0"/>
              </a:rPr>
              <a:t> 14 (6 PWM outputs)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Clock Speed:</a:t>
            </a:r>
            <a:r>
              <a:rPr lang="en-US" altLang="en-US" dirty="0">
                <a:latin typeface="Arial" panose="020B0604020202020204" pitchFamily="34" charset="0"/>
              </a:rPr>
              <a:t> 16 MHz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Flash Memory:</a:t>
            </a:r>
            <a:r>
              <a:rPr lang="en-US" altLang="en-US" dirty="0">
                <a:latin typeface="Arial" panose="020B0604020202020204" pitchFamily="34" charset="0"/>
              </a:rPr>
              <a:t> 32 KB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Role in the Project: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Reads analog EMG signal from the sensor via Analog input.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Compares the input value with a threshold to detect muscle contraction.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Sends PWM signals to control five servo motors.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Powers the sensor and servos from the same supply for synchronized operation.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19D45-DEBD-20FF-8F1D-B72C409D2DEF}"/>
              </a:ext>
            </a:extLst>
          </p:cNvPr>
          <p:cNvSpPr txBox="1"/>
          <p:nvPr/>
        </p:nvSpPr>
        <p:spPr>
          <a:xfrm>
            <a:off x="11858489" y="6488668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10B4C-C6F3-D2B4-245D-BC018A7E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082" y="1399059"/>
            <a:ext cx="4076891" cy="31148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C532BF-753C-636D-BEB7-4520725496B7}"/>
              </a:ext>
            </a:extLst>
          </p:cNvPr>
          <p:cNvSpPr txBox="1"/>
          <p:nvPr/>
        </p:nvSpPr>
        <p:spPr>
          <a:xfrm>
            <a:off x="8818750" y="4513928"/>
            <a:ext cx="3178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Fig. 3 Arduino Uno IC pin out</a:t>
            </a:r>
          </a:p>
        </p:txBody>
      </p:sp>
    </p:spTree>
    <p:extLst>
      <p:ext uri="{BB962C8B-B14F-4D97-AF65-F5344CB8AC3E}">
        <p14:creationId xmlns:p14="http://schemas.microsoft.com/office/powerpoint/2010/main" val="201295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C9AF-AEEE-5C25-1032-ABBBA229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09" y="325595"/>
            <a:ext cx="7109510" cy="74612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Overview of the Working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9A9AAA4-BAB0-F9D9-DDE9-1F5A2A73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09" y="1356120"/>
            <a:ext cx="11559639" cy="481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EMG muscle sensor detects electrical activity (EMG signals) from the user’s forearm muscles.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analog signal is sent to the Arduino Uno through pin A3.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Arduino processes the signal and compares it with a threshold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muscle flexes (signal &gt; threshold) → Arduino sends PWM signals to servo motors → fingers close.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muscle relaxes (signal &lt; threshold) → servos return to their open position.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servos pull fishing lines attached to each finger, replicating natural hand movement.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entire system is powered by Lithium Batteries (~ 7.2V 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E9160-DAC8-C4D1-23C9-DE275F312DCB}"/>
              </a:ext>
            </a:extLst>
          </p:cNvPr>
          <p:cNvSpPr txBox="1"/>
          <p:nvPr/>
        </p:nvSpPr>
        <p:spPr>
          <a:xfrm>
            <a:off x="11552903" y="6361471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0692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A672-D7B8-2368-FC15-8A0D1E31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33" y="383126"/>
            <a:ext cx="3971754" cy="70023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Block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16904-978D-2C79-1BF7-4DF8F572DAFC}"/>
              </a:ext>
            </a:extLst>
          </p:cNvPr>
          <p:cNvSpPr txBox="1"/>
          <p:nvPr/>
        </p:nvSpPr>
        <p:spPr>
          <a:xfrm>
            <a:off x="2800348" y="5973420"/>
            <a:ext cx="7367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Fig.4 Block diagram of the EMG-based prosthetic hand control system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B6559-7250-1DD5-5398-C294CB03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75" y="1312751"/>
            <a:ext cx="9540546" cy="46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0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2799-AC04-AB06-BB87-1F39FA68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49" y="335428"/>
            <a:ext cx="3815703" cy="61830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7B044-0B7D-AB10-C3A4-004E59F52643}"/>
              </a:ext>
            </a:extLst>
          </p:cNvPr>
          <p:cNvSpPr txBox="1"/>
          <p:nvPr/>
        </p:nvSpPr>
        <p:spPr>
          <a:xfrm>
            <a:off x="83074" y="1131627"/>
            <a:ext cx="9715058" cy="5096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3D Design &amp; Printing</a:t>
            </a:r>
          </a:p>
          <a:p>
            <a:pPr marL="742950" lvl="1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Used InMoov open-source STL files to print hand and forearm parts.</a:t>
            </a:r>
          </a:p>
          <a:p>
            <a:pPr marL="742950" lvl="1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Components assembled using screws, fishing line, and adhesive.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Hardware Integration</a:t>
            </a:r>
          </a:p>
          <a:p>
            <a:pPr marL="742950" lvl="1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Connected servo motors for finger movement.</a:t>
            </a:r>
          </a:p>
          <a:p>
            <a:pPr marL="742950" lvl="1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Interfaced EMG muscle sensor with Arduino Nano.</a:t>
            </a:r>
          </a:p>
          <a:p>
            <a:pPr marL="742950" lvl="1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Linked battery, wires, and electrodes for signal and power distribution.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9ADB6-0390-DA03-1144-9616B388725B}"/>
              </a:ext>
            </a:extLst>
          </p:cNvPr>
          <p:cNvSpPr txBox="1"/>
          <p:nvPr/>
        </p:nvSpPr>
        <p:spPr>
          <a:xfrm>
            <a:off x="11552903" y="6361471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9043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1BA1-4EBD-BE41-D2D0-CAC1DE93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75" y="308710"/>
            <a:ext cx="5581021" cy="754777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Circuit Connection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1BE5A-66AF-4F25-4AA0-F2B094A72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135" y="1277457"/>
            <a:ext cx="6258992" cy="516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8EC27-4882-FA60-4CFA-5AEAD2D81FFE}"/>
              </a:ext>
            </a:extLst>
          </p:cNvPr>
          <p:cNvSpPr txBox="1"/>
          <p:nvPr/>
        </p:nvSpPr>
        <p:spPr>
          <a:xfrm>
            <a:off x="4208285" y="6380013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Fig. 5 Circuit Connection Diagram. Source: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TinkerCAD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7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F4B884-5261-AECB-FA03-755BDFD5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0" y="197776"/>
            <a:ext cx="3815703" cy="61830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230C8-6E58-3726-9A2E-9353BF4A7CAE}"/>
              </a:ext>
            </a:extLst>
          </p:cNvPr>
          <p:cNvSpPr txBox="1"/>
          <p:nvPr/>
        </p:nvSpPr>
        <p:spPr>
          <a:xfrm>
            <a:off x="186811" y="619449"/>
            <a:ext cx="11366092" cy="204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Signal Acquisition Process: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user flexes a muscle, small EMG signals (in millivolts) are generated.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sensor amplifies and filters these weak signals to produce a stable analog voltage.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3970C-FDFA-57E6-DA85-7974510DAA1F}"/>
              </a:ext>
            </a:extLst>
          </p:cNvPr>
          <p:cNvSpPr txBox="1"/>
          <p:nvPr/>
        </p:nvSpPr>
        <p:spPr>
          <a:xfrm>
            <a:off x="11552903" y="6361471"/>
            <a:ext cx="29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463026-2F21-0233-217D-52B84D1E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05" y="2825936"/>
            <a:ext cx="8962102" cy="3412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D1C160-783D-C3A3-7BC6-991E8DEA44F9}"/>
              </a:ext>
            </a:extLst>
          </p:cNvPr>
          <p:cNvSpPr txBox="1"/>
          <p:nvPr/>
        </p:nvSpPr>
        <p:spPr>
          <a:xfrm>
            <a:off x="3208654" y="6352447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Fig.6 3D-printed components of the prosthetic hand and forearm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87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98B5-EFB6-1C5C-F119-79827CB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40" y="338527"/>
            <a:ext cx="5392177" cy="57587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Algorithm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9FF77-C013-5C99-74B5-CE0815E55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715" y="124058"/>
            <a:ext cx="3998919" cy="6309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01EFB-6413-3F94-61F4-E7F5EF4FDDE9}"/>
              </a:ext>
            </a:extLst>
          </p:cNvPr>
          <p:cNvSpPr txBox="1"/>
          <p:nvPr/>
        </p:nvSpPr>
        <p:spPr>
          <a:xfrm>
            <a:off x="275810" y="1071761"/>
            <a:ext cx="6562311" cy="481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analog output is read by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Arduino Nano (pin A3)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Arduino Nano compares the signal value with a threshold to detect muscle activity and drives the servo motors connected to D3, D5, D6, D9, D10.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signal &gt; threshold → servos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close the fingers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signal &lt; threshold → servos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open the fingers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forms the basis of real-time muscle-controlled motion.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C828BC-1047-22EB-EDF0-A626F1CF0624}"/>
              </a:ext>
            </a:extLst>
          </p:cNvPr>
          <p:cNvSpPr txBox="1"/>
          <p:nvPr/>
        </p:nvSpPr>
        <p:spPr>
          <a:xfrm>
            <a:off x="6755672" y="6433110"/>
            <a:ext cx="5469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7 Flowchart of the EMG-based prosthetic hand control system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169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B197-1C1D-D315-4B52-E37745C32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32" y="298771"/>
            <a:ext cx="2827881" cy="61563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9C3BE-CD0C-EC6C-A0AD-C8A3794E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50" y="1312586"/>
            <a:ext cx="3832726" cy="4676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A97F92-540B-FA58-62D6-74038AC8B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875" y="1312586"/>
            <a:ext cx="3239662" cy="4717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C9CE6D-7D4B-21A3-B360-F7DE68DD9189}"/>
              </a:ext>
            </a:extLst>
          </p:cNvPr>
          <p:cNvSpPr txBox="1"/>
          <p:nvPr/>
        </p:nvSpPr>
        <p:spPr>
          <a:xfrm>
            <a:off x="1484671" y="6030183"/>
            <a:ext cx="3711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Fig. 8 Hardware circuit connection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36516-3531-08A5-D377-04B780CE108B}"/>
              </a:ext>
            </a:extLst>
          </p:cNvPr>
          <p:cNvSpPr txBox="1"/>
          <p:nvPr/>
        </p:nvSpPr>
        <p:spPr>
          <a:xfrm>
            <a:off x="7295537" y="6030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 9 Prosthetic Hand Model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1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D56BC77-40FD-A274-0329-9259DB3D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32" y="298771"/>
            <a:ext cx="5516149" cy="61563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RESULT </a:t>
            </a:r>
            <a:r>
              <a:rPr lang="en-IN" dirty="0" err="1">
                <a:latin typeface="Arial Black" panose="020B0A04020102020204" pitchFamily="34" charset="0"/>
              </a:rPr>
              <a:t>AnD</a:t>
            </a:r>
            <a:r>
              <a:rPr lang="en-IN" dirty="0">
                <a:latin typeface="Arial Black" panose="020B0A04020102020204" pitchFamily="34" charset="0"/>
              </a:rPr>
              <a:t> 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BE743-3601-FFC9-E3DF-9B90FA86665B}"/>
              </a:ext>
            </a:extLst>
          </p:cNvPr>
          <p:cNvSpPr txBox="1"/>
          <p:nvPr/>
        </p:nvSpPr>
        <p:spPr>
          <a:xfrm>
            <a:off x="1494503" y="3792724"/>
            <a:ext cx="8947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93847A-FA14-94EE-0646-A0EC089AA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83" y="935206"/>
            <a:ext cx="12000272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EMG sensor successfully detected muscle contractions and relaxation.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Servos responded correctly by opening (0°) and closing (180°) the prosthetic fingers.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Smooth and stable actuation across all five fingers.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average response delay was approximately 150–200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mainly due to signal processing and servo actuation time.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7FF5C3-E676-1D7A-E999-FA1B46C03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56770"/>
              </p:ext>
            </p:extLst>
          </p:nvPr>
        </p:nvGraphicFramePr>
        <p:xfrm>
          <a:off x="1750142" y="3792724"/>
          <a:ext cx="7718324" cy="239747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533832">
                  <a:extLst>
                    <a:ext uri="{9D8B030D-6E8A-4147-A177-3AD203B41FA5}">
                      <a16:colId xmlns:a16="http://schemas.microsoft.com/office/drawing/2014/main" val="902010740"/>
                    </a:ext>
                  </a:extLst>
                </a:gridCol>
                <a:gridCol w="2969342">
                  <a:extLst>
                    <a:ext uri="{9D8B030D-6E8A-4147-A177-3AD203B41FA5}">
                      <a16:colId xmlns:a16="http://schemas.microsoft.com/office/drawing/2014/main" val="3408423492"/>
                    </a:ext>
                  </a:extLst>
                </a:gridCol>
                <a:gridCol w="3215150">
                  <a:extLst>
                    <a:ext uri="{9D8B030D-6E8A-4147-A177-3AD203B41FA5}">
                      <a16:colId xmlns:a16="http://schemas.microsoft.com/office/drawing/2014/main" val="455471086"/>
                    </a:ext>
                  </a:extLst>
                </a:gridCol>
              </a:tblGrid>
              <a:tr h="10007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</a:t>
                      </a:r>
                      <a:endParaRPr lang="en-IN" sz="14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EMG Value (ADC units)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Hand Motion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0777170"/>
                  </a:ext>
                </a:extLst>
              </a:tr>
              <a:tr h="6839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Resting muscle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0–250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Fingers remain open</a:t>
                      </a:r>
                      <a:endParaRPr lang="en-IN" sz="14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9727050"/>
                  </a:ext>
                </a:extLst>
              </a:tr>
              <a:tr h="7127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flexion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700–750</a:t>
                      </a:r>
                      <a:endParaRPr lang="en-IN" sz="14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grip (fingers fully closed)</a:t>
                      </a:r>
                      <a:endParaRPr lang="en-IN" sz="14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73615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C209020-1A60-2821-3B17-56AB59AA1A63}"/>
              </a:ext>
            </a:extLst>
          </p:cNvPr>
          <p:cNvSpPr txBox="1"/>
          <p:nvPr/>
        </p:nvSpPr>
        <p:spPr>
          <a:xfrm>
            <a:off x="1750142" y="6271313"/>
            <a:ext cx="8072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 1: Experimental EMG readings and corresponding hand movement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86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D311-7238-287D-6DBE-9C258393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81" y="197776"/>
            <a:ext cx="3589561" cy="598637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latin typeface="Arial Black" panose="020B0A04020102020204" pitchFamily="34" charset="0"/>
              </a:rPr>
              <a:t>CoST</a:t>
            </a:r>
            <a:r>
              <a:rPr lang="en-IN" dirty="0">
                <a:latin typeface="Arial Black" panose="020B0A04020102020204" pitchFamily="34" charset="0"/>
              </a:rPr>
              <a:t>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CFEAC-AEF7-0AA1-FEAB-4E588CD12DA1}"/>
              </a:ext>
            </a:extLst>
          </p:cNvPr>
          <p:cNvSpPr txBox="1"/>
          <p:nvPr/>
        </p:nvSpPr>
        <p:spPr>
          <a:xfrm>
            <a:off x="550606" y="938574"/>
            <a:ext cx="10894143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Cost of Existing Prosthetic Arms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bionic/myoelectric arms cost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₹16–17 lakh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India.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High-end imported models exceed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₹20–30 lakh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depending on features.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available prosthetic arms in India provide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limited finger movement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lack natural dexterity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Maintenance and replacement parts are expensive and not easily available.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Cost of Developed EMG-Based Prosthetic Hand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3D Printing + PLA Material: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~₹1500–2000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Servo Motors (MG996R × 5):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~₹1,200–1,500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EMG Sensor (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MyoWare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~₹1,600–2,200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Arduino UNO Controller: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~₹300–400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Battery + Wiring + Miscellaneous: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~₹300–500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Total Estimated Cost: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~₹5000 – ₹6,500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57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E692-61B7-35F0-268A-F6162340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62" y="286267"/>
            <a:ext cx="3756709" cy="62813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73C6F5-AA10-2FD7-2217-627EC1C92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62" y="1141685"/>
            <a:ext cx="10520516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low-cost 3D-printed prosthetic arm was successfully developed using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MyoWare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EMG sensor, Arduino Nano, and servo motors.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effectively translated muscle contractions into finger movements through threshold-based control.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smooth, real-time, and reliable performance during testing and calibration.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 that affordable and customizable prosthetic solutions can be built using open-source hardware and 3D printing.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strong foundation for future enhancements such as multi-channel EMG or AI-based motion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2493834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D583-2486-CB26-0B29-FF8BA57F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9" y="286266"/>
            <a:ext cx="3864864" cy="824779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7F35A-12F5-DEA5-2D75-699E5D27B571}"/>
              </a:ext>
            </a:extLst>
          </p:cNvPr>
          <p:cNvSpPr txBox="1"/>
          <p:nvPr/>
        </p:nvSpPr>
        <p:spPr>
          <a:xfrm>
            <a:off x="461330" y="1111045"/>
            <a:ext cx="10550798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Improve signal processing using advanced filtering and machine learning to detect multiple gestures.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Integrate wireless connectivity (Bluetooth/Wi-Fi) for remote calibration and control.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Add haptic feedback to allow users to feel pressure or touch sensations.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Replace mechanical servos with lightweight, high-torque actuators for smoother motion.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Develop a fully functional prosthetic arm with wrist and elbow movement.</a:t>
            </a:r>
          </a:p>
          <a:p>
            <a:pPr marL="28575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Conduct clinical testing to evaluate usability and comfort for real amputees.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665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5D7B-5F50-2025-A6E0-85FA4C98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08" y="305928"/>
            <a:ext cx="3048786" cy="61830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17211-F9B1-C0F4-90B0-421C70C1F609}"/>
              </a:ext>
            </a:extLst>
          </p:cNvPr>
          <p:cNvSpPr txBox="1"/>
          <p:nvPr/>
        </p:nvSpPr>
        <p:spPr>
          <a:xfrm>
            <a:off x="514348" y="1224533"/>
            <a:ext cx="10378939" cy="4438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Korai, A., Jamali, A. A., &amp; Ahmed, A. (2022).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Using 3D Printing Technology to Develop Electromyography Signals Based Prosthetic Arm.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Materials Today: Proceedings, 58, 510–515.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Xu, Y., Yin, X., Fan, Y., &amp; Qian, Y. (2014).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Tendon-drive finger mechanisms for an EMG prosthetic hand with two motors. Mechanism and Machine Theory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78, 79–93.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Ali, A., Gaur, M., &amp; Reddy, R. (2020).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Design and Development of EMG Based Prosthetic Arm. International Research Journal of Engineering and Technology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(IRJET), 7(5), 3253–3258.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Unanyan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A., &amp; Belov, D. (2021).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Low-Price Prosthetic Hand Controlled by EMG Signals. Materials Today: Proceedings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45, 4422–4428. </a:t>
            </a:r>
          </a:p>
        </p:txBody>
      </p:sp>
    </p:spTree>
    <p:extLst>
      <p:ext uri="{BB962C8B-B14F-4D97-AF65-F5344CB8AC3E}">
        <p14:creationId xmlns:p14="http://schemas.microsoft.com/office/powerpoint/2010/main" val="245828949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168</TotalTime>
  <Words>1405</Words>
  <Application>Microsoft Office PowerPoint</Application>
  <PresentationFormat>Widescreen</PresentationFormat>
  <Paragraphs>177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Courier New</vt:lpstr>
      <vt:lpstr>Gill Sans MT</vt:lpstr>
      <vt:lpstr>Wingdings</vt:lpstr>
      <vt:lpstr>Parcel</vt:lpstr>
      <vt:lpstr>3D-Printed Myoelectric Prosthetic HAND</vt:lpstr>
      <vt:lpstr>Introduction</vt:lpstr>
      <vt:lpstr>Motivation</vt:lpstr>
      <vt:lpstr>Objectives</vt:lpstr>
      <vt:lpstr>Components Used</vt:lpstr>
      <vt:lpstr>EMG Sensor</vt:lpstr>
      <vt:lpstr>Arduino</vt:lpstr>
      <vt:lpstr>Overview of the Working</vt:lpstr>
      <vt:lpstr>Block Diagram</vt:lpstr>
      <vt:lpstr>Methodology</vt:lpstr>
      <vt:lpstr>Circuit Connection</vt:lpstr>
      <vt:lpstr>Methodology</vt:lpstr>
      <vt:lpstr>Algorithm workflow</vt:lpstr>
      <vt:lpstr>RESULTS</vt:lpstr>
      <vt:lpstr>RESULT AnD Discussion</vt:lpstr>
      <vt:lpstr>CoST ANALYSIS</vt:lpstr>
      <vt:lpstr>Conclusion</vt:lpstr>
      <vt:lpstr>Future work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Arushi Mallick</dc:creator>
  <cp:lastModifiedBy>Arushi Mallick</cp:lastModifiedBy>
  <cp:revision>36</cp:revision>
  <dcterms:created xsi:type="dcterms:W3CDTF">2025-11-06T08:42:55Z</dcterms:created>
  <dcterms:modified xsi:type="dcterms:W3CDTF">2026-01-30T06:56:57Z</dcterms:modified>
</cp:coreProperties>
</file>